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T Supermolot Neue Expanded Bold" charset="1" panose="02000803000000020004"/>
      <p:regular r:id="rId15"/>
    </p:embeddedFont>
    <p:embeddedFont>
      <p:font typeface="Montserrat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71752"/>
            <a:ext cx="2125003" cy="1924160"/>
          </a:xfrm>
          <a:custGeom>
            <a:avLst/>
            <a:gdLst/>
            <a:ahLst/>
            <a:cxnLst/>
            <a:rect r="r" b="b" t="t" l="l"/>
            <a:pathLst>
              <a:path h="1924160" w="2125003">
                <a:moveTo>
                  <a:pt x="0" y="0"/>
                </a:moveTo>
                <a:lnTo>
                  <a:pt x="2125003" y="0"/>
                </a:lnTo>
                <a:lnTo>
                  <a:pt x="2125003" y="1924160"/>
                </a:lnTo>
                <a:lnTo>
                  <a:pt x="0" y="1924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566" t="0" r="-26281" b="-1461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43554" y="1933370"/>
            <a:ext cx="9258177" cy="220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1"/>
              </a:lnSpc>
            </a:pPr>
            <a:r>
              <a:rPr lang="en-US" sz="8144" b="true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SKILL</a:t>
            </a:r>
          </a:p>
          <a:p>
            <a:pPr algn="l">
              <a:lnSpc>
                <a:spcPts val="8551"/>
              </a:lnSpc>
            </a:pPr>
            <a:r>
              <a:rPr lang="en-US" sz="8144" b="true">
                <a:solidFill>
                  <a:srgbClr val="45219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SWITCH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52400" y="9603607"/>
            <a:ext cx="18350595" cy="607193"/>
          </a:xfrm>
          <a:prstGeom prst="line">
            <a:avLst/>
          </a:prstGeom>
          <a:ln cap="flat" w="485775">
            <a:solidFill>
              <a:srgbClr val="8959B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10058400"/>
            <a:ext cx="18502995" cy="41275"/>
          </a:xfrm>
          <a:prstGeom prst="line">
            <a:avLst/>
          </a:prstGeom>
          <a:ln cap="flat" w="485775">
            <a:solidFill>
              <a:srgbClr val="452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511592" y="9855200"/>
            <a:ext cx="2204501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AMRUTVAHINI COLLEGE OF ENGNINEERING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114185" y="7325168"/>
            <a:ext cx="2839828" cy="2885632"/>
            <a:chOff x="0" y="0"/>
            <a:chExt cx="3786437" cy="384750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39175" y="215629"/>
              <a:ext cx="3508087" cy="3508087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5451" lIns="25451" bIns="25451" rIns="25451"/>
              <a:lstStyle/>
              <a:p>
                <a:pPr algn="ctr">
                  <a:lnSpc>
                    <a:spcPts val="2482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6437" cy="3847509"/>
            </a:xfrm>
            <a:custGeom>
              <a:avLst/>
              <a:gdLst/>
              <a:ahLst/>
              <a:cxnLst/>
              <a:rect r="r" b="b" t="t" l="l"/>
              <a:pathLst>
                <a:path h="3847509" w="3786437">
                  <a:moveTo>
                    <a:pt x="0" y="0"/>
                  </a:moveTo>
                  <a:lnTo>
                    <a:pt x="3786437" y="0"/>
                  </a:lnTo>
                  <a:lnTo>
                    <a:pt x="3786437" y="3847509"/>
                  </a:lnTo>
                  <a:lnTo>
                    <a:pt x="0" y="3847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558780" y="94154"/>
            <a:ext cx="3729220" cy="3081983"/>
            <a:chOff x="0" y="0"/>
            <a:chExt cx="4972293" cy="410931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972293" cy="4109310"/>
              <a:chOff x="0" y="0"/>
              <a:chExt cx="997467" cy="82434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97468" cy="824349"/>
              </a:xfrm>
              <a:custGeom>
                <a:avLst/>
                <a:gdLst/>
                <a:ahLst/>
                <a:cxnLst/>
                <a:rect r="r" b="b" t="t" l="l"/>
                <a:pathLst>
                  <a:path h="824349" w="997468">
                    <a:moveTo>
                      <a:pt x="0" y="0"/>
                    </a:moveTo>
                    <a:lnTo>
                      <a:pt x="997468" y="0"/>
                    </a:lnTo>
                    <a:lnTo>
                      <a:pt x="997468" y="824349"/>
                    </a:lnTo>
                    <a:lnTo>
                      <a:pt x="0" y="82434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997467" cy="871974"/>
              </a:xfrm>
              <a:prstGeom prst="rect">
                <a:avLst/>
              </a:prstGeom>
            </p:spPr>
            <p:txBody>
              <a:bodyPr anchor="ctr" rtlCol="false" tIns="159894" lIns="159894" bIns="159894" rIns="159894"/>
              <a:lstStyle/>
              <a:p>
                <a:pPr algn="ctr">
                  <a:lnSpc>
                    <a:spcPts val="2482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1697935" y="276279"/>
              <a:ext cx="1834533" cy="2021730"/>
            </a:xfrm>
            <a:custGeom>
              <a:avLst/>
              <a:gdLst/>
              <a:ahLst/>
              <a:cxnLst/>
              <a:rect r="r" b="b" t="t" l="l"/>
              <a:pathLst>
                <a:path h="2021730" w="1834533">
                  <a:moveTo>
                    <a:pt x="0" y="0"/>
                  </a:moveTo>
                  <a:lnTo>
                    <a:pt x="1834532" y="0"/>
                  </a:lnTo>
                  <a:lnTo>
                    <a:pt x="1834532" y="2021730"/>
                  </a:lnTo>
                  <a:lnTo>
                    <a:pt x="0" y="2021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520099" y="1969699"/>
              <a:ext cx="4190204" cy="1353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557"/>
                </a:lnSpc>
              </a:pPr>
              <a:r>
                <a:rPr lang="en-US" b="true" sz="6112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E-</a:t>
              </a:r>
              <a:r>
                <a:rPr lang="en-US" b="true" sz="6112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CELL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504552" y="3299514"/>
              <a:ext cx="828348" cy="98279"/>
            </a:xfrm>
            <a:custGeom>
              <a:avLst/>
              <a:gdLst/>
              <a:ahLst/>
              <a:cxnLst/>
              <a:rect r="r" b="b" t="t" l="l"/>
              <a:pathLst>
                <a:path h="98279" w="828348">
                  <a:moveTo>
                    <a:pt x="0" y="0"/>
                  </a:moveTo>
                  <a:lnTo>
                    <a:pt x="828348" y="0"/>
                  </a:lnTo>
                  <a:lnTo>
                    <a:pt x="828348" y="98278"/>
                  </a:lnTo>
                  <a:lnTo>
                    <a:pt x="0" y="9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429737" y="3145547"/>
              <a:ext cx="2370928" cy="451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1"/>
                </a:lnSpc>
              </a:pPr>
              <a:r>
                <a:rPr lang="en-US" b="true" sz="2036" spc="1222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AVCOE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3897502" y="3299514"/>
              <a:ext cx="828348" cy="98279"/>
            </a:xfrm>
            <a:custGeom>
              <a:avLst/>
              <a:gdLst/>
              <a:ahLst/>
              <a:cxnLst/>
              <a:rect r="r" b="b" t="t" l="l"/>
              <a:pathLst>
                <a:path h="98279" w="828348">
                  <a:moveTo>
                    <a:pt x="0" y="0"/>
                  </a:moveTo>
                  <a:lnTo>
                    <a:pt x="828347" y="0"/>
                  </a:lnTo>
                  <a:lnTo>
                    <a:pt x="828347" y="98278"/>
                  </a:lnTo>
                  <a:lnTo>
                    <a:pt x="0" y="9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127106" y="3558599"/>
              <a:ext cx="2976190" cy="274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44"/>
                </a:lnSpc>
              </a:pPr>
              <a:r>
                <a:rPr lang="en-US" b="true" sz="1174" spc="234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Dream. Build. Lead.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758119" y="4306789"/>
            <a:ext cx="8942690" cy="305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422" indent="-326211" lvl="1">
              <a:lnSpc>
                <a:spcPts val="6194"/>
              </a:lnSpc>
              <a:buFont typeface="Arial"/>
              <a:buChar char="•"/>
            </a:pPr>
            <a:r>
              <a:rPr lang="en-US" b="true" sz="3021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Human · multilingual · switchable soft-skills mentorship</a:t>
            </a:r>
          </a:p>
          <a:p>
            <a:pPr algn="l" marL="652422" indent="-326211" lvl="1">
              <a:lnSpc>
                <a:spcPts val="6194"/>
              </a:lnSpc>
              <a:buFont typeface="Arial"/>
              <a:buChar char="•"/>
            </a:pPr>
            <a:r>
              <a:rPr lang="en-US" b="true" sz="3021">
                <a:solidFill>
                  <a:srgbClr val="45219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[ Your Team Name ]</a:t>
            </a:r>
          </a:p>
          <a:p>
            <a:pPr algn="l" marL="652422" indent="-326211" lvl="1">
              <a:lnSpc>
                <a:spcPts val="6194"/>
              </a:lnSpc>
              <a:buFont typeface="Arial"/>
              <a:buChar char="•"/>
            </a:pPr>
            <a:r>
              <a:rPr lang="en-US" b="true" sz="3021">
                <a:solidFill>
                  <a:srgbClr val="000005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[ Team member names ]</a:t>
            </a:r>
          </a:p>
          <a:p>
            <a:pPr algn="l" marL="652422" indent="-326211" lvl="1">
              <a:lnSpc>
                <a:spcPts val="6194"/>
              </a:lnSpc>
              <a:buFont typeface="Arial"/>
              <a:buChar char="•"/>
            </a:pPr>
            <a:r>
              <a:rPr lang="en-US" b="true" sz="3021">
                <a:solidFill>
                  <a:srgbClr val="000005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Amrutvahini College of Engineering</a:t>
            </a:r>
          </a:p>
        </p:txBody>
      </p:sp>
      <p:sp>
        <p:nvSpPr>
          <p:cNvPr name="AutoShape 24" id="24"/>
          <p:cNvSpPr/>
          <p:nvPr/>
        </p:nvSpPr>
        <p:spPr>
          <a:xfrm>
            <a:off x="6564768" y="4140102"/>
            <a:ext cx="2614974" cy="0"/>
          </a:xfrm>
          <a:prstGeom prst="line">
            <a:avLst/>
          </a:prstGeom>
          <a:ln cap="flat" w="85725">
            <a:solidFill>
              <a:srgbClr val="452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3125911" y="4140102"/>
            <a:ext cx="3438857" cy="0"/>
          </a:xfrm>
          <a:prstGeom prst="line">
            <a:avLst/>
          </a:prstGeom>
          <a:ln cap="flat" w="85725">
            <a:solidFill>
              <a:srgbClr val="E396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8926999" y="3355267"/>
            <a:ext cx="674002" cy="107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40"/>
              </a:lnSpc>
              <a:spcBef>
                <a:spcPct val="0"/>
              </a:spcBef>
            </a:pPr>
            <a:r>
              <a:rPr lang="en-US" b="true" sz="6243" spc="3746">
                <a:solidFill>
                  <a:srgbClr val="E39618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6000" y="0"/>
            <a:ext cx="2282000" cy="1922753"/>
            <a:chOff x="0" y="0"/>
            <a:chExt cx="3042666" cy="2563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0177" y="0"/>
              <a:ext cx="1322312" cy="1457242"/>
            </a:xfrm>
            <a:custGeom>
              <a:avLst/>
              <a:gdLst/>
              <a:ahLst/>
              <a:cxnLst/>
              <a:rect r="r" b="b" t="t" l="l"/>
              <a:pathLst>
                <a:path h="1457242" w="1322312">
                  <a:moveTo>
                    <a:pt x="0" y="0"/>
                  </a:moveTo>
                  <a:lnTo>
                    <a:pt x="1322312" y="0"/>
                  </a:lnTo>
                  <a:lnTo>
                    <a:pt x="1322312" y="1457242"/>
                  </a:lnTo>
                  <a:lnTo>
                    <a:pt x="0" y="1457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206" y="1217261"/>
              <a:ext cx="3020255" cy="978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68"/>
                </a:lnSpc>
              </a:pPr>
              <a:r>
                <a:rPr lang="en-US" b="true" sz="4405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E-</a:t>
              </a:r>
              <a:r>
                <a:rPr lang="en-US" b="true" sz="4405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CELL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0" y="2179116"/>
              <a:ext cx="597064" cy="70838"/>
            </a:xfrm>
            <a:custGeom>
              <a:avLst/>
              <a:gdLst/>
              <a:ahLst/>
              <a:cxnLst/>
              <a:rect r="r" b="b" t="t" l="l"/>
              <a:pathLst>
                <a:path h="70838" w="597064">
                  <a:moveTo>
                    <a:pt x="0" y="0"/>
                  </a:moveTo>
                  <a:lnTo>
                    <a:pt x="597064" y="0"/>
                  </a:lnTo>
                  <a:lnTo>
                    <a:pt x="597064" y="70838"/>
                  </a:lnTo>
                  <a:lnTo>
                    <a:pt x="0" y="70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666863" y="2057501"/>
              <a:ext cx="1708940" cy="335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55"/>
                </a:lnSpc>
              </a:pPr>
              <a:r>
                <a:rPr lang="en-US" b="true" sz="1468" spc="880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AVCOE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2445602" y="2179116"/>
              <a:ext cx="597064" cy="70838"/>
            </a:xfrm>
            <a:custGeom>
              <a:avLst/>
              <a:gdLst/>
              <a:ahLst/>
              <a:cxnLst/>
              <a:rect r="r" b="b" t="t" l="l"/>
              <a:pathLst>
                <a:path h="70838" w="597064">
                  <a:moveTo>
                    <a:pt x="0" y="0"/>
                  </a:moveTo>
                  <a:lnTo>
                    <a:pt x="597064" y="0"/>
                  </a:lnTo>
                  <a:lnTo>
                    <a:pt x="597064" y="70838"/>
                  </a:lnTo>
                  <a:lnTo>
                    <a:pt x="0" y="70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448730" y="2374274"/>
              <a:ext cx="2145206" cy="1893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85"/>
                </a:lnSpc>
              </a:pPr>
              <a:r>
                <a:rPr lang="en-US" b="true" sz="846" spc="169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Dream. Build. Lead.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52400" y="9603607"/>
            <a:ext cx="18350595" cy="607193"/>
          </a:xfrm>
          <a:prstGeom prst="line">
            <a:avLst/>
          </a:prstGeom>
          <a:ln cap="flat" w="485775">
            <a:solidFill>
              <a:srgbClr val="8959B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10058400"/>
            <a:ext cx="18502995" cy="41275"/>
          </a:xfrm>
          <a:prstGeom prst="line">
            <a:avLst/>
          </a:prstGeom>
          <a:ln cap="flat" w="485775">
            <a:solidFill>
              <a:srgbClr val="452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511592" y="9855200"/>
            <a:ext cx="2204501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AMRUTVAHINI COLLEGE OF ENGNINEERING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2276271" cy="2061131"/>
          </a:xfrm>
          <a:custGeom>
            <a:avLst/>
            <a:gdLst/>
            <a:ahLst/>
            <a:cxnLst/>
            <a:rect r="r" b="b" t="t" l="l"/>
            <a:pathLst>
              <a:path h="2061131" w="2276271">
                <a:moveTo>
                  <a:pt x="0" y="0"/>
                </a:moveTo>
                <a:lnTo>
                  <a:pt x="2276271" y="0"/>
                </a:lnTo>
                <a:lnTo>
                  <a:pt x="2276271" y="2061131"/>
                </a:lnTo>
                <a:lnTo>
                  <a:pt x="0" y="2061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66" t="0" r="-26281" b="-1461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50647" y="927155"/>
            <a:ext cx="9728776" cy="78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3"/>
              </a:lnSpc>
            </a:pP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PROBLEM  </a:t>
            </a:r>
            <a:r>
              <a:rPr lang="en-US" b="true" sz="5575" spc="-172">
                <a:solidFill>
                  <a:srgbClr val="45219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STATEMENT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186641" y="2138441"/>
            <a:ext cx="5914719" cy="6010118"/>
          </a:xfrm>
          <a:custGeom>
            <a:avLst/>
            <a:gdLst/>
            <a:ahLst/>
            <a:cxnLst/>
            <a:rect r="r" b="b" t="t" l="l"/>
            <a:pathLst>
              <a:path h="6010118" w="5914719">
                <a:moveTo>
                  <a:pt x="0" y="0"/>
                </a:moveTo>
                <a:lnTo>
                  <a:pt x="5914718" y="0"/>
                </a:lnTo>
                <a:lnTo>
                  <a:pt x="5914718" y="6010118"/>
                </a:lnTo>
                <a:lnTo>
                  <a:pt x="0" y="6010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76271" y="2515509"/>
            <a:ext cx="14257828" cy="262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Nearly half of India's graduates aren't job-ready — employability is only 56.35% (India Skills Report 2026), and the gap is soft skills, not technical ability.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Colleges hire soft-skills trainers, but quality is inconsistent — and students can't switch a trainer who isn't working for them.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Online alternatives lock students into one instructor per subscription, or replace human mentorship with AI-only feedback.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English-only delivery turns language itself into a barrier to the confidence the training is meant to build.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lived this: our strong first-year trainer left, the replacement was weaker, and we had no way to switch — that's why SkillSwitch exists.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1868" y="0"/>
            <a:ext cx="2756132" cy="2322244"/>
            <a:chOff x="0" y="0"/>
            <a:chExt cx="3674843" cy="3096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38897" y="0"/>
              <a:ext cx="1597049" cy="1760014"/>
            </a:xfrm>
            <a:custGeom>
              <a:avLst/>
              <a:gdLst/>
              <a:ahLst/>
              <a:cxnLst/>
              <a:rect r="r" b="b" t="t" l="l"/>
              <a:pathLst>
                <a:path h="1760014" w="1597049">
                  <a:moveTo>
                    <a:pt x="0" y="0"/>
                  </a:moveTo>
                  <a:lnTo>
                    <a:pt x="1597049" y="0"/>
                  </a:lnTo>
                  <a:lnTo>
                    <a:pt x="1597049" y="1760014"/>
                  </a:lnTo>
                  <a:lnTo>
                    <a:pt x="0" y="1760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3534" y="1459408"/>
              <a:ext cx="3647775" cy="1192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49"/>
                </a:lnSpc>
              </a:pPr>
              <a:r>
                <a:rPr lang="en-US" b="true" sz="5321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E-</a:t>
              </a:r>
              <a:r>
                <a:rPr lang="en-US" b="true" sz="5321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CELL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0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805418" y="2483380"/>
              <a:ext cx="2064007" cy="407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2"/>
                </a:lnSpc>
              </a:pPr>
              <a:r>
                <a:rPr lang="en-US" b="true" sz="1773" spc="1063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AVCOE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2953726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541963" y="2862011"/>
              <a:ext cx="2590917" cy="234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1"/>
                </a:lnSpc>
              </a:pPr>
              <a:r>
                <a:rPr lang="en-US" b="true" sz="1022" spc="204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Dream. Build. Lead.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52400" y="9603607"/>
            <a:ext cx="18350595" cy="607193"/>
          </a:xfrm>
          <a:prstGeom prst="line">
            <a:avLst/>
          </a:prstGeom>
          <a:ln cap="flat" w="485775">
            <a:solidFill>
              <a:srgbClr val="8959B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10058400"/>
            <a:ext cx="18502995" cy="41275"/>
          </a:xfrm>
          <a:prstGeom prst="line">
            <a:avLst/>
          </a:prstGeom>
          <a:ln cap="flat" w="485775">
            <a:solidFill>
              <a:srgbClr val="452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511592" y="9855200"/>
            <a:ext cx="2204501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AMRUTVAHINI COLLEGE OF ENGNINEERING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2276271" cy="2061131"/>
          </a:xfrm>
          <a:custGeom>
            <a:avLst/>
            <a:gdLst/>
            <a:ahLst/>
            <a:cxnLst/>
            <a:rect r="r" b="b" t="t" l="l"/>
            <a:pathLst>
              <a:path h="2061131" w="2276271">
                <a:moveTo>
                  <a:pt x="0" y="0"/>
                </a:moveTo>
                <a:lnTo>
                  <a:pt x="2276271" y="0"/>
                </a:lnTo>
                <a:lnTo>
                  <a:pt x="2276271" y="2061131"/>
                </a:lnTo>
                <a:lnTo>
                  <a:pt x="0" y="2061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66" t="0" r="-26281" b="-1461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64812" y="803219"/>
            <a:ext cx="9578544" cy="78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3"/>
              </a:lnSpc>
            </a:pP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PROPOSED </a:t>
            </a:r>
            <a:r>
              <a:rPr lang="en-US" b="true" sz="5575" spc="-172">
                <a:solidFill>
                  <a:srgbClr val="45219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 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3837" y="2515509"/>
            <a:ext cx="15340325" cy="262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SkillSwitch: a human, multilingual, switchable soft-skills mentorship platform — sold to colleges, free for students.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Multilingual video lessons — soft skills taught in a Hindi + English blend, so language is never the barrier.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Weekly task-video assignments — students record real skills (self-intro, presentation, group discussion) and get personal feedback from a human mentor.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 weekly plan — AI only turns the mentor's human feedback into a clear to-do list; assessment stays 100% human.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Switch mentors on demand in a few clicks — no new subscription — plus optional live 1:1 video sessions.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186641" y="2138441"/>
            <a:ext cx="5914719" cy="6010118"/>
          </a:xfrm>
          <a:custGeom>
            <a:avLst/>
            <a:gdLst/>
            <a:ahLst/>
            <a:cxnLst/>
            <a:rect r="r" b="b" t="t" l="l"/>
            <a:pathLst>
              <a:path h="6010118" w="5914719">
                <a:moveTo>
                  <a:pt x="0" y="0"/>
                </a:moveTo>
                <a:lnTo>
                  <a:pt x="5914718" y="0"/>
                </a:lnTo>
                <a:lnTo>
                  <a:pt x="5914718" y="6010118"/>
                </a:lnTo>
                <a:lnTo>
                  <a:pt x="0" y="6010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1868" y="0"/>
            <a:ext cx="2756132" cy="2322244"/>
            <a:chOff x="0" y="0"/>
            <a:chExt cx="3674843" cy="3096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38897" y="0"/>
              <a:ext cx="1597049" cy="1760014"/>
            </a:xfrm>
            <a:custGeom>
              <a:avLst/>
              <a:gdLst/>
              <a:ahLst/>
              <a:cxnLst/>
              <a:rect r="r" b="b" t="t" l="l"/>
              <a:pathLst>
                <a:path h="1760014" w="1597049">
                  <a:moveTo>
                    <a:pt x="0" y="0"/>
                  </a:moveTo>
                  <a:lnTo>
                    <a:pt x="1597049" y="0"/>
                  </a:lnTo>
                  <a:lnTo>
                    <a:pt x="1597049" y="1760014"/>
                  </a:lnTo>
                  <a:lnTo>
                    <a:pt x="0" y="1760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3534" y="1459408"/>
              <a:ext cx="3647775" cy="1192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49"/>
                </a:lnSpc>
              </a:pPr>
              <a:r>
                <a:rPr lang="en-US" b="true" sz="5321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E-</a:t>
              </a:r>
              <a:r>
                <a:rPr lang="en-US" b="true" sz="5321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CELL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0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805418" y="2483380"/>
              <a:ext cx="2064007" cy="407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2"/>
                </a:lnSpc>
              </a:pPr>
              <a:r>
                <a:rPr lang="en-US" b="true" sz="1773" spc="1063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AVCOE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2953726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541963" y="2862011"/>
              <a:ext cx="2590917" cy="234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1"/>
                </a:lnSpc>
              </a:pPr>
              <a:r>
                <a:rPr lang="en-US" b="true" sz="1022" spc="204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Dream. Build. Lead.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52400" y="9603607"/>
            <a:ext cx="18350595" cy="607193"/>
          </a:xfrm>
          <a:prstGeom prst="line">
            <a:avLst/>
          </a:prstGeom>
          <a:ln cap="flat" w="485775">
            <a:solidFill>
              <a:srgbClr val="8959B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10058400"/>
            <a:ext cx="18502995" cy="41275"/>
          </a:xfrm>
          <a:prstGeom prst="line">
            <a:avLst/>
          </a:prstGeom>
          <a:ln cap="flat" w="485775">
            <a:solidFill>
              <a:srgbClr val="452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511592" y="9855200"/>
            <a:ext cx="2204501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AMRUTVAHINI COLLEGE OF ENGNINEERING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2276271" cy="2061131"/>
          </a:xfrm>
          <a:custGeom>
            <a:avLst/>
            <a:gdLst/>
            <a:ahLst/>
            <a:cxnLst/>
            <a:rect r="r" b="b" t="t" l="l"/>
            <a:pathLst>
              <a:path h="2061131" w="2276271">
                <a:moveTo>
                  <a:pt x="0" y="0"/>
                </a:moveTo>
                <a:lnTo>
                  <a:pt x="2276271" y="0"/>
                </a:lnTo>
                <a:lnTo>
                  <a:pt x="2276271" y="2061131"/>
                </a:lnTo>
                <a:lnTo>
                  <a:pt x="0" y="2061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66" t="0" r="-26281" b="-1461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54315" y="1095375"/>
            <a:ext cx="12179371" cy="78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3"/>
              </a:lnSpc>
            </a:pP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UNIQUE SELLING </a:t>
            </a:r>
            <a:r>
              <a:rPr lang="en-US" b="true" sz="5575" spc="-172">
                <a:solidFill>
                  <a:srgbClr val="45219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PROPOSITION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9609" y="2860046"/>
            <a:ext cx="15340325" cy="210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Human mentor, not an AI-only coach.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Switchable on demand, not locked in for a subscription term.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One institutional subscription, not paid per-teacher by students.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Regional-language delivery by design, not a bolted-on afterthought.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Purpose-built for placement-readiness practice, not generic language learning or corporate training.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competitor combines all five — and our name is our moat: switch mentors, not subscriptions.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186641" y="2138441"/>
            <a:ext cx="5914719" cy="6010118"/>
          </a:xfrm>
          <a:custGeom>
            <a:avLst/>
            <a:gdLst/>
            <a:ahLst/>
            <a:cxnLst/>
            <a:rect r="r" b="b" t="t" l="l"/>
            <a:pathLst>
              <a:path h="6010118" w="5914719">
                <a:moveTo>
                  <a:pt x="0" y="0"/>
                </a:moveTo>
                <a:lnTo>
                  <a:pt x="5914718" y="0"/>
                </a:lnTo>
                <a:lnTo>
                  <a:pt x="5914718" y="6010118"/>
                </a:lnTo>
                <a:lnTo>
                  <a:pt x="0" y="6010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1868" y="0"/>
            <a:ext cx="2756132" cy="2322244"/>
            <a:chOff x="0" y="0"/>
            <a:chExt cx="3674843" cy="3096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38897" y="0"/>
              <a:ext cx="1597049" cy="1760014"/>
            </a:xfrm>
            <a:custGeom>
              <a:avLst/>
              <a:gdLst/>
              <a:ahLst/>
              <a:cxnLst/>
              <a:rect r="r" b="b" t="t" l="l"/>
              <a:pathLst>
                <a:path h="1760014" w="1597049">
                  <a:moveTo>
                    <a:pt x="0" y="0"/>
                  </a:moveTo>
                  <a:lnTo>
                    <a:pt x="1597049" y="0"/>
                  </a:lnTo>
                  <a:lnTo>
                    <a:pt x="1597049" y="1760014"/>
                  </a:lnTo>
                  <a:lnTo>
                    <a:pt x="0" y="1760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3534" y="1459408"/>
              <a:ext cx="3647775" cy="1192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49"/>
                </a:lnSpc>
              </a:pPr>
              <a:r>
                <a:rPr lang="en-US" b="true" sz="5321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E-</a:t>
              </a:r>
              <a:r>
                <a:rPr lang="en-US" b="true" sz="5321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CELL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0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805418" y="2483380"/>
              <a:ext cx="2064007" cy="407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2"/>
                </a:lnSpc>
              </a:pPr>
              <a:r>
                <a:rPr lang="en-US" b="true" sz="1773" spc="1063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AVCOE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2953726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541963" y="2862011"/>
              <a:ext cx="2590917" cy="234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1"/>
                </a:lnSpc>
              </a:pPr>
              <a:r>
                <a:rPr lang="en-US" b="true" sz="1022" spc="204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Dream. Build. Lead.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52400" y="9603607"/>
            <a:ext cx="18350595" cy="607193"/>
          </a:xfrm>
          <a:prstGeom prst="line">
            <a:avLst/>
          </a:prstGeom>
          <a:ln cap="flat" w="485775">
            <a:solidFill>
              <a:srgbClr val="8959B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10058400"/>
            <a:ext cx="18502995" cy="41275"/>
          </a:xfrm>
          <a:prstGeom prst="line">
            <a:avLst/>
          </a:prstGeom>
          <a:ln cap="flat" w="485775">
            <a:solidFill>
              <a:srgbClr val="452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511592" y="9855200"/>
            <a:ext cx="2204501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AMRUTVAHINI COLLEGE OF ENGNINEERING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2276271" cy="2061131"/>
          </a:xfrm>
          <a:custGeom>
            <a:avLst/>
            <a:gdLst/>
            <a:ahLst/>
            <a:cxnLst/>
            <a:rect r="r" b="b" t="t" l="l"/>
            <a:pathLst>
              <a:path h="2061131" w="2276271">
                <a:moveTo>
                  <a:pt x="0" y="0"/>
                </a:moveTo>
                <a:lnTo>
                  <a:pt x="2276271" y="0"/>
                </a:lnTo>
                <a:lnTo>
                  <a:pt x="2276271" y="2061131"/>
                </a:lnTo>
                <a:lnTo>
                  <a:pt x="0" y="2061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66" t="0" r="-26281" b="-1461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82451" y="1095375"/>
            <a:ext cx="7221705" cy="78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3"/>
              </a:lnSpc>
            </a:pP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B</a:t>
            </a: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USINESS  </a:t>
            </a:r>
            <a:r>
              <a:rPr lang="en-US" b="true" sz="5575" spc="-172">
                <a:solidFill>
                  <a:srgbClr val="45219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MODEL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18975" y="3010157"/>
            <a:ext cx="15340325" cy="262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B2B2C: colleges buy an institutional subscription; students pay nothing — matching how colleges already fund training.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Pricing: ₹1,500–4,000 per student / year (benchmarked to Clicks Campus ₹3,999 and Indian EdTech norms; to be validated with placement officers).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Supply: mentors work part-time / freelance — like Preply and Verbling — so employed professionals can mentor on the side.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Main costs: mentor payouts, video hosting, platform, and a lean sales team.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Extra lever: a NAAC / NBA accreditation-outcomes dashboard colleges will pay for.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186641" y="2138441"/>
            <a:ext cx="5914719" cy="6010118"/>
          </a:xfrm>
          <a:custGeom>
            <a:avLst/>
            <a:gdLst/>
            <a:ahLst/>
            <a:cxnLst/>
            <a:rect r="r" b="b" t="t" l="l"/>
            <a:pathLst>
              <a:path h="6010118" w="5914719">
                <a:moveTo>
                  <a:pt x="0" y="0"/>
                </a:moveTo>
                <a:lnTo>
                  <a:pt x="5914718" y="0"/>
                </a:lnTo>
                <a:lnTo>
                  <a:pt x="5914718" y="6010118"/>
                </a:lnTo>
                <a:lnTo>
                  <a:pt x="0" y="6010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1868" y="0"/>
            <a:ext cx="2756132" cy="2322244"/>
            <a:chOff x="0" y="0"/>
            <a:chExt cx="3674843" cy="3096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38897" y="0"/>
              <a:ext cx="1597049" cy="1760014"/>
            </a:xfrm>
            <a:custGeom>
              <a:avLst/>
              <a:gdLst/>
              <a:ahLst/>
              <a:cxnLst/>
              <a:rect r="r" b="b" t="t" l="l"/>
              <a:pathLst>
                <a:path h="1760014" w="1597049">
                  <a:moveTo>
                    <a:pt x="0" y="0"/>
                  </a:moveTo>
                  <a:lnTo>
                    <a:pt x="1597049" y="0"/>
                  </a:lnTo>
                  <a:lnTo>
                    <a:pt x="1597049" y="1760014"/>
                  </a:lnTo>
                  <a:lnTo>
                    <a:pt x="0" y="1760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3534" y="1459408"/>
              <a:ext cx="3647775" cy="1192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49"/>
                </a:lnSpc>
              </a:pPr>
              <a:r>
                <a:rPr lang="en-US" b="true" sz="5321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E-</a:t>
              </a:r>
              <a:r>
                <a:rPr lang="en-US" b="true" sz="5321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CELL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0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805418" y="2483380"/>
              <a:ext cx="2064007" cy="407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2"/>
                </a:lnSpc>
              </a:pPr>
              <a:r>
                <a:rPr lang="en-US" b="true" sz="1773" spc="1063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AVCOE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2953726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541963" y="2862011"/>
              <a:ext cx="2590917" cy="234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1"/>
                </a:lnSpc>
              </a:pPr>
              <a:r>
                <a:rPr lang="en-US" b="true" sz="1022" spc="204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Dream. Build. Lead.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52400" y="9603607"/>
            <a:ext cx="18350595" cy="607193"/>
          </a:xfrm>
          <a:prstGeom prst="line">
            <a:avLst/>
          </a:prstGeom>
          <a:ln cap="flat" w="485775">
            <a:solidFill>
              <a:srgbClr val="8959B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10058400"/>
            <a:ext cx="18502995" cy="41275"/>
          </a:xfrm>
          <a:prstGeom prst="line">
            <a:avLst/>
          </a:prstGeom>
          <a:ln cap="flat" w="485775">
            <a:solidFill>
              <a:srgbClr val="452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511592" y="9855200"/>
            <a:ext cx="2204501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AMRUTVAHINI COLLEGE OF ENGNINEERING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2276271" cy="2061131"/>
          </a:xfrm>
          <a:custGeom>
            <a:avLst/>
            <a:gdLst/>
            <a:ahLst/>
            <a:cxnLst/>
            <a:rect r="r" b="b" t="t" l="l"/>
            <a:pathLst>
              <a:path h="2061131" w="2276271">
                <a:moveTo>
                  <a:pt x="0" y="0"/>
                </a:moveTo>
                <a:lnTo>
                  <a:pt x="2276271" y="0"/>
                </a:lnTo>
                <a:lnTo>
                  <a:pt x="2276271" y="2061131"/>
                </a:lnTo>
                <a:lnTo>
                  <a:pt x="0" y="2061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66" t="0" r="-26281" b="-1461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82451" y="1095375"/>
            <a:ext cx="7221705" cy="78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3"/>
              </a:lnSpc>
            </a:pP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TARG</a:t>
            </a: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ET </a:t>
            </a:r>
            <a:r>
              <a:rPr lang="en-US" b="true" sz="5575" spc="-172">
                <a:solidFill>
                  <a:srgbClr val="45219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MARKET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9609" y="2711860"/>
            <a:ext cx="15340325" cy="210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Buyer: college placement / T&amp;P cells — 48,246 colleges and 1.1 crore graduates a year in India (AISHE 2023-24).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Beachhead: Maharashtra — 4,692 colleges and ~540 engineering institutes — our home base (AVCOE) with existing placement-cell contacts.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End users: students in placement-facing years, especially outside top tech streams where the employability gap is widest.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Strategy: start local, prove the model in Maharashtra, then scale nationally.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186641" y="2138441"/>
            <a:ext cx="5914719" cy="6010118"/>
          </a:xfrm>
          <a:custGeom>
            <a:avLst/>
            <a:gdLst/>
            <a:ahLst/>
            <a:cxnLst/>
            <a:rect r="r" b="b" t="t" l="l"/>
            <a:pathLst>
              <a:path h="6010118" w="5914719">
                <a:moveTo>
                  <a:pt x="0" y="0"/>
                </a:moveTo>
                <a:lnTo>
                  <a:pt x="5914718" y="0"/>
                </a:lnTo>
                <a:lnTo>
                  <a:pt x="5914718" y="6010118"/>
                </a:lnTo>
                <a:lnTo>
                  <a:pt x="0" y="6010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1868" y="0"/>
            <a:ext cx="2756132" cy="2322244"/>
            <a:chOff x="0" y="0"/>
            <a:chExt cx="3674843" cy="3096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38897" y="0"/>
              <a:ext cx="1597049" cy="1760014"/>
            </a:xfrm>
            <a:custGeom>
              <a:avLst/>
              <a:gdLst/>
              <a:ahLst/>
              <a:cxnLst/>
              <a:rect r="r" b="b" t="t" l="l"/>
              <a:pathLst>
                <a:path h="1760014" w="1597049">
                  <a:moveTo>
                    <a:pt x="0" y="0"/>
                  </a:moveTo>
                  <a:lnTo>
                    <a:pt x="1597049" y="0"/>
                  </a:lnTo>
                  <a:lnTo>
                    <a:pt x="1597049" y="1760014"/>
                  </a:lnTo>
                  <a:lnTo>
                    <a:pt x="0" y="1760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3534" y="1459408"/>
              <a:ext cx="3647775" cy="1192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49"/>
                </a:lnSpc>
              </a:pPr>
              <a:r>
                <a:rPr lang="en-US" b="true" sz="5321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E-</a:t>
              </a:r>
              <a:r>
                <a:rPr lang="en-US" b="true" sz="5321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CELL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0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805418" y="2483380"/>
              <a:ext cx="2064007" cy="407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2"/>
                </a:lnSpc>
              </a:pPr>
              <a:r>
                <a:rPr lang="en-US" b="true" sz="1773" spc="1063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AVCOE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2953726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541963" y="2862011"/>
              <a:ext cx="2590917" cy="234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1"/>
                </a:lnSpc>
              </a:pPr>
              <a:r>
                <a:rPr lang="en-US" b="true" sz="1022" spc="204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Dream. Build. Lead.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52400" y="9603607"/>
            <a:ext cx="18350595" cy="607193"/>
          </a:xfrm>
          <a:prstGeom prst="line">
            <a:avLst/>
          </a:prstGeom>
          <a:ln cap="flat" w="485775">
            <a:solidFill>
              <a:srgbClr val="8959B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10058400"/>
            <a:ext cx="18502995" cy="41275"/>
          </a:xfrm>
          <a:prstGeom prst="line">
            <a:avLst/>
          </a:prstGeom>
          <a:ln cap="flat" w="485775">
            <a:solidFill>
              <a:srgbClr val="452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511592" y="9855200"/>
            <a:ext cx="2204501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AMRUTVAHINI COLLEGE OF ENGNINEERING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2276271" cy="2061131"/>
          </a:xfrm>
          <a:custGeom>
            <a:avLst/>
            <a:gdLst/>
            <a:ahLst/>
            <a:cxnLst/>
            <a:rect r="r" b="b" t="t" l="l"/>
            <a:pathLst>
              <a:path h="2061131" w="2276271">
                <a:moveTo>
                  <a:pt x="0" y="0"/>
                </a:moveTo>
                <a:lnTo>
                  <a:pt x="2276271" y="0"/>
                </a:lnTo>
                <a:lnTo>
                  <a:pt x="2276271" y="2061131"/>
                </a:lnTo>
                <a:lnTo>
                  <a:pt x="0" y="2061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66" t="0" r="-26281" b="-1461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82451" y="1095375"/>
            <a:ext cx="7221705" cy="78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3"/>
              </a:lnSpc>
            </a:pP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MARKET</a:t>
            </a: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 </a:t>
            </a:r>
            <a:r>
              <a:rPr lang="en-US" b="true" sz="5575" spc="-172">
                <a:solidFill>
                  <a:srgbClr val="45219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2009" y="2864260"/>
            <a:ext cx="15340325" cy="262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India soft-skills training market: USD 722.5M (2024) → USD 1,758.5M (2033), 9.87% CAGR (IMARC).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Demand: employability rose 46.2% → 56.35%, yet 92.8% of students still want practice-based, hands-on prep (India Skills Report 2026).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Policy tailwind: NEP 2020 and NAAC / NBA now grade colleges on employability — and explicitly call for multilingual, skills-integrated EdTech.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Competition: pieces exist separately (TrainX, Clicks Campus, Yoodli, Preply, Bodyswaps) — but none combine all four for Indian placement-readiness. That gap is ours.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186641" y="2138441"/>
            <a:ext cx="5914719" cy="6010118"/>
          </a:xfrm>
          <a:custGeom>
            <a:avLst/>
            <a:gdLst/>
            <a:ahLst/>
            <a:cxnLst/>
            <a:rect r="r" b="b" t="t" l="l"/>
            <a:pathLst>
              <a:path h="6010118" w="5914719">
                <a:moveTo>
                  <a:pt x="0" y="0"/>
                </a:moveTo>
                <a:lnTo>
                  <a:pt x="5914718" y="0"/>
                </a:lnTo>
                <a:lnTo>
                  <a:pt x="5914718" y="6010118"/>
                </a:lnTo>
                <a:lnTo>
                  <a:pt x="0" y="6010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1868" y="0"/>
            <a:ext cx="2756132" cy="2322244"/>
            <a:chOff x="0" y="0"/>
            <a:chExt cx="3674843" cy="3096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38897" y="0"/>
              <a:ext cx="1597049" cy="1760014"/>
            </a:xfrm>
            <a:custGeom>
              <a:avLst/>
              <a:gdLst/>
              <a:ahLst/>
              <a:cxnLst/>
              <a:rect r="r" b="b" t="t" l="l"/>
              <a:pathLst>
                <a:path h="1760014" w="1597049">
                  <a:moveTo>
                    <a:pt x="0" y="0"/>
                  </a:moveTo>
                  <a:lnTo>
                    <a:pt x="1597049" y="0"/>
                  </a:lnTo>
                  <a:lnTo>
                    <a:pt x="1597049" y="1760014"/>
                  </a:lnTo>
                  <a:lnTo>
                    <a:pt x="0" y="1760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3534" y="1459408"/>
              <a:ext cx="3647775" cy="1192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49"/>
                </a:lnSpc>
              </a:pPr>
              <a:r>
                <a:rPr lang="en-US" b="true" sz="5321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E-</a:t>
              </a:r>
              <a:r>
                <a:rPr lang="en-US" b="true" sz="5321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CELL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0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805418" y="2483380"/>
              <a:ext cx="2064007" cy="407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2"/>
                </a:lnSpc>
              </a:pPr>
              <a:r>
                <a:rPr lang="en-US" b="true" sz="1773" spc="1063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AVCOE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2953726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541963" y="2862011"/>
              <a:ext cx="2590917" cy="234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1"/>
                </a:lnSpc>
              </a:pPr>
              <a:r>
                <a:rPr lang="en-US" b="true" sz="1022" spc="204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Dream. Build. Lead.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52400" y="9603607"/>
            <a:ext cx="18350595" cy="607193"/>
          </a:xfrm>
          <a:prstGeom prst="line">
            <a:avLst/>
          </a:prstGeom>
          <a:ln cap="flat" w="485775">
            <a:solidFill>
              <a:srgbClr val="8959B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10058400"/>
            <a:ext cx="18502995" cy="41275"/>
          </a:xfrm>
          <a:prstGeom prst="line">
            <a:avLst/>
          </a:prstGeom>
          <a:ln cap="flat" w="485775">
            <a:solidFill>
              <a:srgbClr val="452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511592" y="9855200"/>
            <a:ext cx="2204501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AMRUTVAHINI COLLEGE OF ENGNINEERING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2276271" cy="2061131"/>
          </a:xfrm>
          <a:custGeom>
            <a:avLst/>
            <a:gdLst/>
            <a:ahLst/>
            <a:cxnLst/>
            <a:rect r="r" b="b" t="t" l="l"/>
            <a:pathLst>
              <a:path h="2061131" w="2276271">
                <a:moveTo>
                  <a:pt x="0" y="0"/>
                </a:moveTo>
                <a:lnTo>
                  <a:pt x="2276271" y="0"/>
                </a:lnTo>
                <a:lnTo>
                  <a:pt x="2276271" y="2061131"/>
                </a:lnTo>
                <a:lnTo>
                  <a:pt x="0" y="2061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66" t="0" r="-26281" b="-1461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368847" y="1227797"/>
            <a:ext cx="9550306" cy="78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3"/>
              </a:lnSpc>
            </a:pP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I</a:t>
            </a: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MPLEMENTA</a:t>
            </a: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TIO</a:t>
            </a: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N </a:t>
            </a: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 </a:t>
            </a:r>
            <a:r>
              <a:rPr lang="en-US" b="true" sz="5575" spc="-172">
                <a:solidFill>
                  <a:srgbClr val="45219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74409" y="3016660"/>
            <a:ext cx="15340325" cy="210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Phase 1 (0–3 mo): build the MVP — multilingual lessons + task-video + human-feedback loop; sign one pilot college in Maharashtra.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Phase 2 (3–6 mo): run the pilot, add mentor-switching and live 1:1; validate pricing; set up DPDP-compliant video storage.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Phase 3 (6–12 mo): add the AI weekly plan + accreditation dashboard; expand to 5–10 Maharashtra colleges.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Phase 4 (12 mo+): scale across Maharashtra, then nationally; grow the mentor pool.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Funding path: E-Cell → DPIIT recognition → AICTE Student Startup Policy (via AVCOE) → SISFS seed grant.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186641" y="2138441"/>
            <a:ext cx="5914719" cy="6010118"/>
          </a:xfrm>
          <a:custGeom>
            <a:avLst/>
            <a:gdLst/>
            <a:ahLst/>
            <a:cxnLst/>
            <a:rect r="r" b="b" t="t" l="l"/>
            <a:pathLst>
              <a:path h="6010118" w="5914719">
                <a:moveTo>
                  <a:pt x="0" y="0"/>
                </a:moveTo>
                <a:lnTo>
                  <a:pt x="5914718" y="0"/>
                </a:lnTo>
                <a:lnTo>
                  <a:pt x="5914718" y="6010118"/>
                </a:lnTo>
                <a:lnTo>
                  <a:pt x="0" y="6010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1868" y="0"/>
            <a:ext cx="2756132" cy="2322244"/>
            <a:chOff x="0" y="0"/>
            <a:chExt cx="3674843" cy="3096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38897" y="0"/>
              <a:ext cx="1597049" cy="1760014"/>
            </a:xfrm>
            <a:custGeom>
              <a:avLst/>
              <a:gdLst/>
              <a:ahLst/>
              <a:cxnLst/>
              <a:rect r="r" b="b" t="t" l="l"/>
              <a:pathLst>
                <a:path h="1760014" w="1597049">
                  <a:moveTo>
                    <a:pt x="0" y="0"/>
                  </a:moveTo>
                  <a:lnTo>
                    <a:pt x="1597049" y="0"/>
                  </a:lnTo>
                  <a:lnTo>
                    <a:pt x="1597049" y="1760014"/>
                  </a:lnTo>
                  <a:lnTo>
                    <a:pt x="0" y="1760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3534" y="1459408"/>
              <a:ext cx="3647775" cy="1192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49"/>
                </a:lnSpc>
              </a:pPr>
              <a:r>
                <a:rPr lang="en-US" b="true" sz="5321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E-</a:t>
              </a:r>
              <a:r>
                <a:rPr lang="en-US" b="true" sz="5321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CELL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0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805418" y="2483380"/>
              <a:ext cx="2064007" cy="407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2"/>
                </a:lnSpc>
              </a:pPr>
              <a:r>
                <a:rPr lang="en-US" b="true" sz="1773" spc="1063">
                  <a:solidFill>
                    <a:srgbClr val="A866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AVCOE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2953726" y="2631872"/>
              <a:ext cx="721117" cy="85556"/>
            </a:xfrm>
            <a:custGeom>
              <a:avLst/>
              <a:gdLst/>
              <a:ahLst/>
              <a:cxnLst/>
              <a:rect r="r" b="b" t="t" l="l"/>
              <a:pathLst>
                <a:path h="85556" w="721117">
                  <a:moveTo>
                    <a:pt x="0" y="0"/>
                  </a:moveTo>
                  <a:lnTo>
                    <a:pt x="721117" y="0"/>
                  </a:lnTo>
                  <a:lnTo>
                    <a:pt x="721117" y="85556"/>
                  </a:lnTo>
                  <a:lnTo>
                    <a:pt x="0" y="8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541963" y="2862011"/>
              <a:ext cx="2590917" cy="234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1"/>
                </a:lnSpc>
              </a:pPr>
              <a:r>
                <a:rPr lang="en-US" b="true" sz="1022" spc="204">
                  <a:solidFill>
                    <a:srgbClr val="45219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Dream. Build. Lead.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52400" y="9603607"/>
            <a:ext cx="18350595" cy="607193"/>
          </a:xfrm>
          <a:prstGeom prst="line">
            <a:avLst/>
          </a:prstGeom>
          <a:ln cap="flat" w="485775">
            <a:solidFill>
              <a:srgbClr val="8959B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10058400"/>
            <a:ext cx="18502995" cy="41275"/>
          </a:xfrm>
          <a:prstGeom prst="line">
            <a:avLst/>
          </a:prstGeom>
          <a:ln cap="flat" w="485775">
            <a:solidFill>
              <a:srgbClr val="4521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511592" y="9855200"/>
            <a:ext cx="2204501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AMRUTVAHINI COLLEGE OF ENGNINEERING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2276271" cy="2061131"/>
          </a:xfrm>
          <a:custGeom>
            <a:avLst/>
            <a:gdLst/>
            <a:ahLst/>
            <a:cxnLst/>
            <a:rect r="r" b="b" t="t" l="l"/>
            <a:pathLst>
              <a:path h="2061131" w="2276271">
                <a:moveTo>
                  <a:pt x="0" y="0"/>
                </a:moveTo>
                <a:lnTo>
                  <a:pt x="2276271" y="0"/>
                </a:lnTo>
                <a:lnTo>
                  <a:pt x="2276271" y="2061131"/>
                </a:lnTo>
                <a:lnTo>
                  <a:pt x="0" y="2061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66" t="0" r="-26281" b="-1461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534696" y="1097240"/>
            <a:ext cx="5218608" cy="78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3"/>
              </a:lnSpc>
            </a:pPr>
            <a:r>
              <a:rPr lang="en-US" b="true" sz="5575" spc="-172">
                <a:solidFill>
                  <a:srgbClr val="000000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ABOUT  </a:t>
            </a:r>
            <a:r>
              <a:rPr lang="en-US" b="true" sz="5575" spc="-172">
                <a:solidFill>
                  <a:srgbClr val="45219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TEAM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26809" y="3169060"/>
            <a:ext cx="15340325" cy="262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Founder-market fit: we're building the fix to a problem we lived at AVCOE — losing a great mentor with no way to switch.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 Member 1 name ] — [ role, e.g. Product &amp; Vision ]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 Member 2 name ] — [ role, e.g. Tech / Platform ]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 Member 3 name ] — [ role, e.g. Partnerships &amp; Sales ]</a:t>
            </a:r>
          </a:p>
          <a:p>
            <a:pPr algn="l" marL="770986" indent="-385493" lvl="1">
              <a:lnSpc>
                <a:spcPts val="3200"/>
              </a:lnSpc>
              <a:buFont typeface="Arial"/>
              <a:buChar char="•"/>
            </a:pPr>
            <a:r>
              <a:rPr lang="en-US" sz="2800" spc="1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Amrutvahini College of Engineering, Sangamner, Maharashtra.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186641" y="2138441"/>
            <a:ext cx="5914719" cy="6010118"/>
          </a:xfrm>
          <a:custGeom>
            <a:avLst/>
            <a:gdLst/>
            <a:ahLst/>
            <a:cxnLst/>
            <a:rect r="r" b="b" t="t" l="l"/>
            <a:pathLst>
              <a:path h="6010118" w="5914719">
                <a:moveTo>
                  <a:pt x="0" y="0"/>
                </a:moveTo>
                <a:lnTo>
                  <a:pt x="5914718" y="0"/>
                </a:lnTo>
                <a:lnTo>
                  <a:pt x="5914718" y="6010118"/>
                </a:lnTo>
                <a:lnTo>
                  <a:pt x="0" y="6010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DAHSTMHHDNI</dc:identifier>
  <dcterms:modified xsi:type="dcterms:W3CDTF">2011-08-01T06:04:30Z</dcterms:modified>
  <cp:revision>1</cp:revision>
  <dc:title>pitchperfect3.0template</dc:title>
</cp:coreProperties>
</file>